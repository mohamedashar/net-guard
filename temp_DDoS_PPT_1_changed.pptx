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2" r:id="rId6"/>
    <p:sldId id="265" r:id="rId7"/>
    <p:sldId id="263" r:id="rId8"/>
    <p:sldId id="270" r:id="rId9"/>
    <p:sldId id="271" r:id="rId10"/>
    <p:sldId id="266" r:id="rId11"/>
    <p:sldId id="269" r:id="rId12"/>
    <p:sldId id="267" r:id="rId13"/>
    <p:sldId id="268" r:id="rId14"/>
    <p:sldId id="26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301" y="31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EBA46A0-019C-4495-A70A-7F6FFE78672E}"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136381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BA46A0-019C-4495-A70A-7F6FFE78672E}"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2705589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BA46A0-019C-4495-A70A-7F6FFE78672E}"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2739869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EBA46A0-019C-4495-A70A-7F6FFE78672E}"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1660252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EBA46A0-019C-4495-A70A-7F6FFE78672E}"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3634784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EBA46A0-019C-4495-A70A-7F6FFE78672E}" type="datetimeFigureOut">
              <a:rPr lang="en-IN" smtClean="0"/>
              <a:t>20-02-2026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3214983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BA46A0-019C-4495-A70A-7F6FFE78672E}" type="datetimeFigureOut">
              <a:rPr lang="en-IN" smtClean="0"/>
              <a:t>20-02-2026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1737552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BA46A0-019C-4495-A70A-7F6FFE78672E}"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618020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BA46A0-019C-4495-A70A-7F6FFE78672E}"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4026461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BA46A0-019C-4495-A70A-7F6FFE78672E}"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220785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EBA46A0-019C-4495-A70A-7F6FFE78672E}"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97B078-C1B6-4658-8FA5-9D7FA2B1894E}" type="slidenum">
              <a:rPr lang="en-IN" smtClean="0"/>
              <a:t>‹#›</a:t>
            </a:fld>
            <a:endParaRPr lang="en-IN"/>
          </a:p>
        </p:txBody>
      </p:sp>
    </p:spTree>
    <p:extLst>
      <p:ext uri="{BB962C8B-B14F-4D97-AF65-F5344CB8AC3E}">
        <p14:creationId xmlns:p14="http://schemas.microsoft.com/office/powerpoint/2010/main" val="469996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BA46A0-019C-4495-A70A-7F6FFE78672E}" type="datetimeFigureOut">
              <a:rPr lang="en-IN" smtClean="0"/>
              <a:t>20-02-2026</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97B078-C1B6-4658-8FA5-9D7FA2B1894E}" type="slidenum">
              <a:rPr lang="en-IN" smtClean="0"/>
              <a:t>‹#›</a:t>
            </a:fld>
            <a:endParaRPr lang="en-IN"/>
          </a:p>
        </p:txBody>
      </p:sp>
    </p:spTree>
    <p:extLst>
      <p:ext uri="{BB962C8B-B14F-4D97-AF65-F5344CB8AC3E}">
        <p14:creationId xmlns:p14="http://schemas.microsoft.com/office/powerpoint/2010/main" val="1711972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807E344-2A55-7D9E-1328-26FF20A9C75D}"/>
              </a:ext>
            </a:extLst>
          </p:cNvPr>
          <p:cNvSpPr/>
          <p:nvPr/>
        </p:nvSpPr>
        <p:spPr>
          <a:xfrm>
            <a:off x="407368" y="476673"/>
            <a:ext cx="11305256" cy="597666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19" name="Title 1">
            <a:extLst>
              <a:ext uri="{FF2B5EF4-FFF2-40B4-BE49-F238E27FC236}">
                <a16:creationId xmlns:a16="http://schemas.microsoft.com/office/drawing/2014/main" id="{B46EA44B-6CC7-4F06-0BC0-B5477BD86DF4}"/>
              </a:ext>
            </a:extLst>
          </p:cNvPr>
          <p:cNvSpPr txBox="1">
            <a:spLocks/>
          </p:cNvSpPr>
          <p:nvPr/>
        </p:nvSpPr>
        <p:spPr>
          <a:xfrm>
            <a:off x="2173796" y="844513"/>
            <a:ext cx="7772400" cy="1470025"/>
          </a:xfrm>
          <a:prstGeom prst="rect">
            <a:avLst/>
          </a:prstGeom>
        </p:spPr>
        <p:txBody>
          <a:bodyPr>
            <a:no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endParaRPr lang="en-US" sz="2400" b="1" dirty="0">
              <a:latin typeface="Times New Roman" pitchFamily="18" charset="0"/>
              <a:cs typeface="Times New Roman" pitchFamily="18" charset="0"/>
            </a:endParaRPr>
          </a:p>
          <a:p>
            <a:r>
              <a:rPr lang="en-US" sz="2400" b="1" dirty="0" err="1">
                <a:latin typeface="Times New Roman" pitchFamily="18" charset="0"/>
                <a:cs typeface="Times New Roman" pitchFamily="18" charset="0"/>
              </a:rPr>
              <a:t>NetGuard</a:t>
            </a:r>
            <a:r>
              <a:rPr lang="en-US" sz="2400" b="1" dirty="0">
                <a:latin typeface="Times New Roman" pitchFamily="18" charset="0"/>
                <a:cs typeface="Times New Roman" pitchFamily="18" charset="0"/>
              </a:rPr>
              <a:t>: A Scalable Framework for Detecting DDoS Attacks Using Cloud data Analysis</a:t>
            </a:r>
            <a:endParaRPr lang="en-IN" sz="2400" b="1" dirty="0">
              <a:latin typeface="Times New Roman" pitchFamily="18" charset="0"/>
              <a:cs typeface="Times New Roman" pitchFamily="18" charset="0"/>
            </a:endParaRPr>
          </a:p>
        </p:txBody>
      </p:sp>
      <p:graphicFrame>
        <p:nvGraphicFramePr>
          <p:cNvPr id="20" name="Table 19">
            <a:extLst>
              <a:ext uri="{FF2B5EF4-FFF2-40B4-BE49-F238E27FC236}">
                <a16:creationId xmlns:a16="http://schemas.microsoft.com/office/drawing/2014/main" id="{6F06FA96-61BD-AD80-344A-9DCB16328D2B}"/>
              </a:ext>
            </a:extLst>
          </p:cNvPr>
          <p:cNvGraphicFramePr>
            <a:graphicFrameLocks noGrp="1"/>
          </p:cNvGraphicFramePr>
          <p:nvPr>
            <p:extLst>
              <p:ext uri="{D42A27DB-BD31-4B8C-83A1-F6EECF244321}">
                <p14:modId xmlns:p14="http://schemas.microsoft.com/office/powerpoint/2010/main" val="2444687476"/>
              </p:ext>
            </p:extLst>
          </p:nvPr>
        </p:nvGraphicFramePr>
        <p:xfrm>
          <a:off x="2843808" y="2544531"/>
          <a:ext cx="6504384" cy="2175675"/>
        </p:xfrm>
        <a:graphic>
          <a:graphicData uri="http://schemas.openxmlformats.org/drawingml/2006/table">
            <a:tbl>
              <a:tblPr firstRow="1" bandRow="1">
                <a:tableStyleId>{5C22544A-7EE6-4342-B048-85BDC9FD1C3A}</a:tableStyleId>
              </a:tblPr>
              <a:tblGrid>
                <a:gridCol w="3252192">
                  <a:extLst>
                    <a:ext uri="{9D8B030D-6E8A-4147-A177-3AD203B41FA5}">
                      <a16:colId xmlns:a16="http://schemas.microsoft.com/office/drawing/2014/main" val="317073976"/>
                    </a:ext>
                  </a:extLst>
                </a:gridCol>
                <a:gridCol w="3252192">
                  <a:extLst>
                    <a:ext uri="{9D8B030D-6E8A-4147-A177-3AD203B41FA5}">
                      <a16:colId xmlns:a16="http://schemas.microsoft.com/office/drawing/2014/main" val="2820741914"/>
                    </a:ext>
                  </a:extLst>
                </a:gridCol>
              </a:tblGrid>
              <a:tr h="435135">
                <a:tc>
                  <a:txBody>
                    <a:bodyPr/>
                    <a:lstStyle/>
                    <a:p>
                      <a:r>
                        <a:rPr lang="en-US" b="0" dirty="0">
                          <a:latin typeface="Times New Roman" panose="02020603050405020304" pitchFamily="18" charset="0"/>
                          <a:cs typeface="Times New Roman" panose="02020603050405020304" pitchFamily="18" charset="0"/>
                        </a:rPr>
                        <a:t>TEAM MEMBERS</a:t>
                      </a:r>
                      <a:endParaRPr lang="en-IN" b="0" dirty="0">
                        <a:latin typeface="Times New Roman" panose="02020603050405020304" pitchFamily="18" charset="0"/>
                        <a:cs typeface="Times New Roman" panose="02020603050405020304" pitchFamily="18" charset="0"/>
                      </a:endParaRPr>
                    </a:p>
                  </a:txBody>
                  <a:tcPr/>
                </a:tc>
                <a:tc>
                  <a:txBody>
                    <a:bodyPr/>
                    <a:lstStyle/>
                    <a:p>
                      <a:r>
                        <a:rPr lang="en-US" b="0" dirty="0">
                          <a:latin typeface="Times New Roman" panose="02020603050405020304" pitchFamily="18" charset="0"/>
                          <a:cs typeface="Times New Roman" panose="02020603050405020304" pitchFamily="18" charset="0"/>
                        </a:rPr>
                        <a:t>REGISTER</a:t>
                      </a:r>
                      <a:r>
                        <a:rPr lang="en-US" dirty="0">
                          <a:latin typeface="Times New Roman" panose="02020603050405020304" pitchFamily="18" charset="0"/>
                          <a:cs typeface="Times New Roman" panose="02020603050405020304" pitchFamily="18" charset="0"/>
                        </a:rPr>
                        <a:t> </a:t>
                      </a:r>
                      <a:r>
                        <a:rPr lang="en-US" b="0" dirty="0">
                          <a:latin typeface="Times New Roman" panose="02020603050405020304" pitchFamily="18" charset="0"/>
                          <a:cs typeface="Times New Roman" panose="02020603050405020304" pitchFamily="18" charset="0"/>
                        </a:rPr>
                        <a:t>NUMBER</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4564329"/>
                  </a:ext>
                </a:extLst>
              </a:tr>
              <a:tr h="435135">
                <a:tc>
                  <a:txBody>
                    <a:bodyPr/>
                    <a:lstStyle/>
                    <a:p>
                      <a:r>
                        <a:rPr lang="en-US" dirty="0">
                          <a:latin typeface="Times New Roman" panose="02020603050405020304" pitchFamily="18" charset="0"/>
                          <a:cs typeface="Times New Roman" panose="02020603050405020304" pitchFamily="18" charset="0"/>
                        </a:rPr>
                        <a:t>S.VISHWA</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820322205060</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9304899"/>
                  </a:ext>
                </a:extLst>
              </a:tr>
              <a:tr h="435135">
                <a:tc>
                  <a:txBody>
                    <a:bodyPr/>
                    <a:lstStyle/>
                    <a:p>
                      <a:r>
                        <a:rPr lang="en-US" dirty="0">
                          <a:latin typeface="Times New Roman" panose="02020603050405020304" pitchFamily="18" charset="0"/>
                          <a:cs typeface="Times New Roman" panose="02020603050405020304" pitchFamily="18" charset="0"/>
                        </a:rPr>
                        <a:t>G.ALFRED EDISON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820322205301</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67550953"/>
                  </a:ext>
                </a:extLst>
              </a:tr>
              <a:tr h="435135">
                <a:tc>
                  <a:txBody>
                    <a:bodyPr/>
                    <a:lstStyle/>
                    <a:p>
                      <a:r>
                        <a:rPr lang="en-US" dirty="0">
                          <a:latin typeface="Times New Roman" panose="02020603050405020304" pitchFamily="18" charset="0"/>
                          <a:cs typeface="Times New Roman" panose="02020603050405020304" pitchFamily="18" charset="0"/>
                        </a:rPr>
                        <a:t>M.HARIN</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820322205302</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26861937"/>
                  </a:ext>
                </a:extLst>
              </a:tr>
              <a:tr h="435135">
                <a:tc>
                  <a:txBody>
                    <a:bodyPr/>
                    <a:lstStyle/>
                    <a:p>
                      <a:r>
                        <a:rPr lang="en-US" dirty="0">
                          <a:latin typeface="Times New Roman" panose="02020603050405020304" pitchFamily="18" charset="0"/>
                          <a:cs typeface="Times New Roman" panose="02020603050405020304" pitchFamily="18" charset="0"/>
                        </a:rPr>
                        <a:t>A.MOHAMED ASHAR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820322205303</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2260659"/>
                  </a:ext>
                </a:extLst>
              </a:tr>
            </a:tbl>
          </a:graphicData>
        </a:graphic>
      </p:graphicFrame>
      <p:sp>
        <p:nvSpPr>
          <p:cNvPr id="21" name="TextBox 20">
            <a:extLst>
              <a:ext uri="{FF2B5EF4-FFF2-40B4-BE49-F238E27FC236}">
                <a16:creationId xmlns:a16="http://schemas.microsoft.com/office/drawing/2014/main" id="{F4BAB85E-B16C-2EBC-9886-C839B07FDB45}"/>
              </a:ext>
            </a:extLst>
          </p:cNvPr>
          <p:cNvSpPr txBox="1"/>
          <p:nvPr/>
        </p:nvSpPr>
        <p:spPr>
          <a:xfrm>
            <a:off x="2675620" y="4950199"/>
            <a:ext cx="6840760"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Guided by</a:t>
            </a:r>
          </a:p>
          <a:p>
            <a:r>
              <a:rPr lang="en-US" sz="2000" b="1" dirty="0">
                <a:latin typeface="Times New Roman" panose="02020603050405020304" pitchFamily="18" charset="0"/>
                <a:cs typeface="Times New Roman" panose="02020603050405020304" pitchFamily="18" charset="0"/>
              </a:rPr>
              <a:t>	Dr K . ARUNA  - ASSOCIATE PROFESSOR / IT</a:t>
            </a:r>
            <a:endParaRPr lang="en-IN" sz="2000"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AF0CEF07-FD05-2929-A83A-1BB569FA6131}"/>
              </a:ext>
            </a:extLst>
          </p:cNvPr>
          <p:cNvSpPr txBox="1"/>
          <p:nvPr/>
        </p:nvSpPr>
        <p:spPr>
          <a:xfrm>
            <a:off x="5213902" y="2114483"/>
            <a:ext cx="1692188"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Batch No: 10</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8357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Problem Statement</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911424" y="1388255"/>
            <a:ext cx="10297143" cy="4525963"/>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Cloud storage systems often lack strong encryption, making sensitive files vulnerable to unauthorized access and cyber threats. Protecting stored data with secure encryption is essential for modern cloud applications.</a:t>
            </a:r>
          </a:p>
          <a:p>
            <a:pPr algn="just">
              <a:lnSpc>
                <a:spcPct val="150000"/>
              </a:lnSpc>
            </a:pPr>
            <a:r>
              <a:rPr lang="en-US" sz="2000" dirty="0">
                <a:latin typeface="Times New Roman" panose="02020603050405020304" pitchFamily="18" charset="0"/>
                <a:cs typeface="Times New Roman" panose="02020603050405020304" pitchFamily="18" charset="0"/>
              </a:rPr>
              <a:t>Without OTP-based email verification, cloud systems may allow fake or duplicate registrations, reducing system reliability.</a:t>
            </a:r>
          </a:p>
          <a:p>
            <a:pPr algn="just">
              <a:lnSpc>
                <a:spcPct val="150000"/>
              </a:lnSpc>
            </a:pPr>
            <a:r>
              <a:rPr lang="en-US" sz="2000" dirty="0">
                <a:latin typeface="Times New Roman" panose="02020603050405020304" pitchFamily="18" charset="0"/>
                <a:cs typeface="Times New Roman" panose="02020603050405020304" pitchFamily="18" charset="0"/>
              </a:rPr>
              <a:t>Many systems do not implement strict owner-based approval mechanisms, leading to unauthorized file sharing and potential data leakage.</a:t>
            </a:r>
          </a:p>
          <a:p>
            <a:pPr algn="just">
              <a:lnSpc>
                <a:spcPct val="150000"/>
              </a:lnSpc>
            </a:pPr>
            <a:r>
              <a:rPr lang="en-US" sz="2000" dirty="0">
                <a:latin typeface="Times New Roman" panose="02020603050405020304" pitchFamily="18" charset="0"/>
                <a:cs typeface="Times New Roman" panose="02020603050405020304" pitchFamily="18" charset="0"/>
              </a:rPr>
              <a:t>Traditional platforms fail to detect and notify users about incorrect key attempts or suspicious activities, increasing security risks.</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0" indent="0" algn="just">
              <a:lnSpc>
                <a:spcPct val="150000"/>
              </a:lnSpc>
              <a:buNone/>
            </a:pPr>
            <a:endParaRPr lang="en-IN" sz="20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420387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Objective</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62500" lnSpcReduction="20000"/>
          </a:bodyPr>
          <a:lstStyle/>
          <a:p>
            <a:pPr algn="just">
              <a:lnSpc>
                <a:spcPct val="150000"/>
              </a:lnSpc>
            </a:pPr>
            <a:r>
              <a:rPr lang="en-US" dirty="0">
                <a:latin typeface="Times New Roman" pitchFamily="18" charset="0"/>
                <a:cs typeface="Times New Roman" pitchFamily="18" charset="0"/>
              </a:rPr>
              <a:t>The project aims to provide a secure cloud-based file storage and access system using encryption and authentication mechanisms. It ensures that only authorized users can retrieve and open stored files.</a:t>
            </a:r>
          </a:p>
          <a:p>
            <a:pPr algn="just">
              <a:lnSpc>
                <a:spcPct val="150000"/>
              </a:lnSpc>
            </a:pPr>
            <a:r>
              <a:rPr lang="en-US" dirty="0">
                <a:latin typeface="Times New Roman" pitchFamily="18" charset="0"/>
                <a:cs typeface="Times New Roman" pitchFamily="18" charset="0"/>
              </a:rPr>
              <a:t>By implementing an access key verification process, the system enhances data confidentiality and prevents unauthorized access. This ensures that sensitive information remains protected from malicious users.</a:t>
            </a:r>
          </a:p>
          <a:p>
            <a:pPr algn="just">
              <a:lnSpc>
                <a:spcPct val="150000"/>
              </a:lnSpc>
            </a:pPr>
            <a:r>
              <a:rPr lang="en-US" dirty="0">
                <a:latin typeface="Times New Roman" pitchFamily="18" charset="0"/>
                <a:cs typeface="Times New Roman" pitchFamily="18" charset="0"/>
              </a:rPr>
              <a:t>The project integrates user authentication and login mechanisms to validate identities before granting file access. This improves security and prevents unauthorized file downloads or modifications.</a:t>
            </a:r>
          </a:p>
          <a:p>
            <a:pPr algn="just">
              <a:lnSpc>
                <a:spcPct val="150000"/>
              </a:lnSpc>
            </a:pPr>
            <a:r>
              <a:rPr lang="en-US" dirty="0">
                <a:latin typeface="Times New Roman" pitchFamily="18" charset="0"/>
                <a:cs typeface="Times New Roman" pitchFamily="18" charset="0"/>
              </a:rPr>
              <a:t>A DDoS attack detection system is incorporated to identify and mitigate multiple incorrect access attempts. This feature helps prevent cyber threats and enhances system reliability.</a:t>
            </a:r>
          </a:p>
          <a:p>
            <a:endParaRPr lang="en-IN" dirty="0"/>
          </a:p>
        </p:txBody>
      </p:sp>
    </p:spTree>
    <p:extLst>
      <p:ext uri="{BB962C8B-B14F-4D97-AF65-F5344CB8AC3E}">
        <p14:creationId xmlns:p14="http://schemas.microsoft.com/office/powerpoint/2010/main" val="906768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review</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4139906"/>
              </p:ext>
            </p:extLst>
          </p:nvPr>
        </p:nvGraphicFramePr>
        <p:xfrm>
          <a:off x="1981200" y="1600200"/>
          <a:ext cx="8229600" cy="4302760"/>
        </p:xfrm>
        <a:graphic>
          <a:graphicData uri="http://schemas.openxmlformats.org/drawingml/2006/table">
            <a:tbl>
              <a:tblPr firstRow="1" bandRow="1">
                <a:tableStyleId>{5C22544A-7EE6-4342-B048-85BDC9FD1C3A}</a:tableStyleId>
              </a:tblPr>
              <a:tblGrid>
                <a:gridCol w="1018456">
                  <a:extLst>
                    <a:ext uri="{9D8B030D-6E8A-4147-A177-3AD203B41FA5}">
                      <a16:colId xmlns:a16="http://schemas.microsoft.com/office/drawing/2014/main" val="20000"/>
                    </a:ext>
                  </a:extLst>
                </a:gridCol>
                <a:gridCol w="2273384">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r>
                        <a:rPr lang="en-US" dirty="0" err="1"/>
                        <a:t>S.No</a:t>
                      </a:r>
                      <a:endParaRPr lang="en-IN" dirty="0"/>
                    </a:p>
                  </a:txBody>
                  <a:tcPr/>
                </a:tc>
                <a:tc>
                  <a:txBody>
                    <a:bodyPr/>
                    <a:lstStyle/>
                    <a:p>
                      <a:r>
                        <a:rPr lang="en-US" dirty="0"/>
                        <a:t>Title</a:t>
                      </a:r>
                      <a:endParaRPr lang="en-IN" dirty="0"/>
                    </a:p>
                  </a:txBody>
                  <a:tcPr/>
                </a:tc>
                <a:tc>
                  <a:txBody>
                    <a:bodyPr/>
                    <a:lstStyle/>
                    <a:p>
                      <a:r>
                        <a:rPr lang="en-US" dirty="0"/>
                        <a:t> Author </a:t>
                      </a:r>
                      <a:endParaRPr lang="en-IN" dirty="0"/>
                    </a:p>
                  </a:txBody>
                  <a:tcPr/>
                </a:tc>
                <a:tc>
                  <a:txBody>
                    <a:bodyPr/>
                    <a:lstStyle/>
                    <a:p>
                      <a:r>
                        <a:rPr lang="en-US" dirty="0"/>
                        <a:t>Merits</a:t>
                      </a:r>
                      <a:endParaRPr lang="en-IN" dirty="0"/>
                    </a:p>
                  </a:txBody>
                  <a:tcPr/>
                </a:tc>
                <a:tc>
                  <a:txBody>
                    <a:bodyPr/>
                    <a:lstStyle/>
                    <a:p>
                      <a:r>
                        <a:rPr lang="en-US" dirty="0"/>
                        <a:t>Demerits</a:t>
                      </a:r>
                      <a:endParaRPr lang="en-IN" dirty="0"/>
                    </a:p>
                  </a:txBody>
                  <a:tcPr/>
                </a:tc>
                <a:extLst>
                  <a:ext uri="{0D108BD9-81ED-4DB2-BD59-A6C34878D82A}">
                    <a16:rowId xmlns:a16="http://schemas.microsoft.com/office/drawing/2014/main" val="10000"/>
                  </a:ext>
                </a:extLst>
              </a:tr>
              <a:tr h="370840">
                <a:tc>
                  <a:txBody>
                    <a:bodyPr/>
                    <a:lstStyle/>
                    <a:p>
                      <a:r>
                        <a:rPr lang="en-US" sz="1600" b="0" dirty="0">
                          <a:latin typeface="Times New Roman" pitchFamily="18" charset="0"/>
                          <a:cs typeface="Times New Roman" pitchFamily="18" charset="0"/>
                        </a:rPr>
                        <a:t>1.</a:t>
                      </a:r>
                      <a:endParaRPr lang="en-IN" sz="16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itchFamily="18" charset="0"/>
                          <a:ea typeface="+mn-ea"/>
                          <a:cs typeface="Times New Roman" pitchFamily="18" charset="0"/>
                        </a:rPr>
                        <a:t>Comprehensive Analysis of </a:t>
                      </a:r>
                      <a:r>
                        <a:rPr lang="en-US" sz="1600" b="0" i="0" kern="1200" dirty="0" err="1">
                          <a:solidFill>
                            <a:schemeClr val="dk1"/>
                          </a:solidFill>
                          <a:effectLst/>
                          <a:latin typeface="Times New Roman" pitchFamily="18" charset="0"/>
                          <a:ea typeface="+mn-ea"/>
                          <a:cs typeface="Times New Roman" pitchFamily="18" charset="0"/>
                        </a:rPr>
                        <a:t>DDoS</a:t>
                      </a:r>
                      <a:r>
                        <a:rPr lang="en-US" sz="1600" b="0" i="0" kern="1200" dirty="0">
                          <a:solidFill>
                            <a:schemeClr val="dk1"/>
                          </a:solidFill>
                          <a:effectLst/>
                          <a:latin typeface="Times New Roman" pitchFamily="18" charset="0"/>
                          <a:ea typeface="+mn-ea"/>
                          <a:cs typeface="Times New Roman" pitchFamily="18" charset="0"/>
                        </a:rPr>
                        <a:t> Anomaly Detection in Software-Defined Networks</a:t>
                      </a:r>
                    </a:p>
                  </a:txBody>
                  <a:tcPr/>
                </a:tc>
                <a:tc>
                  <a:txBody>
                    <a:bodyPr/>
                    <a:lstStyle/>
                    <a:p>
                      <a:r>
                        <a:rPr lang="en-IN" sz="1600" b="0" i="0" u="none" strike="noStrike" kern="1200" dirty="0" err="1">
                          <a:solidFill>
                            <a:schemeClr val="dk1"/>
                          </a:solidFill>
                          <a:effectLst/>
                          <a:latin typeface="Times New Roman" pitchFamily="18" charset="0"/>
                          <a:ea typeface="+mn-ea"/>
                          <a:cs typeface="Times New Roman" pitchFamily="18" charset="0"/>
                        </a:rPr>
                        <a:t>Abdinasir</a:t>
                      </a:r>
                      <a:r>
                        <a:rPr lang="en-IN" sz="1600" b="0" i="0" u="none" strike="noStrike" kern="1200" dirty="0">
                          <a:solidFill>
                            <a:schemeClr val="dk1"/>
                          </a:solidFill>
                          <a:effectLst/>
                          <a:latin typeface="Times New Roman" pitchFamily="18" charset="0"/>
                          <a:ea typeface="+mn-ea"/>
                          <a:cs typeface="Times New Roman" pitchFamily="18" charset="0"/>
                        </a:rPr>
                        <a:t> </a:t>
                      </a:r>
                      <a:r>
                        <a:rPr lang="en-IN" sz="1600" b="0" i="0" u="none" strike="noStrike" kern="1200" dirty="0" err="1">
                          <a:solidFill>
                            <a:schemeClr val="dk1"/>
                          </a:solidFill>
                          <a:effectLst/>
                          <a:latin typeface="Times New Roman" pitchFamily="18" charset="0"/>
                          <a:ea typeface="+mn-ea"/>
                          <a:cs typeface="Times New Roman" pitchFamily="18" charset="0"/>
                        </a:rPr>
                        <a:t>Hirsi</a:t>
                      </a:r>
                      <a:endParaRPr lang="en-IN" sz="1600" b="0" dirty="0">
                        <a:latin typeface="Times New Roman" pitchFamily="18" charset="0"/>
                        <a:cs typeface="Times New Roman" pitchFamily="18" charset="0"/>
                      </a:endParaRPr>
                    </a:p>
                  </a:txBody>
                  <a:tcPr/>
                </a:tc>
                <a:tc>
                  <a:txBody>
                    <a:bodyPr/>
                    <a:lstStyle/>
                    <a:p>
                      <a:r>
                        <a:rPr lang="en-IN" sz="1600" b="0" dirty="0">
                          <a:latin typeface="Times New Roman" pitchFamily="18" charset="0"/>
                          <a:cs typeface="Times New Roman" pitchFamily="18" charset="0"/>
                        </a:rPr>
                        <a:t>Enhanced detection accuracy</a:t>
                      </a:r>
                    </a:p>
                  </a:txBody>
                  <a:tcPr/>
                </a:tc>
                <a:tc>
                  <a:txBody>
                    <a:bodyPr/>
                    <a:lstStyle/>
                    <a:p>
                      <a:r>
                        <a:rPr lang="en-US" sz="1600" b="0" dirty="0">
                          <a:latin typeface="Times New Roman" pitchFamily="18" charset="0"/>
                          <a:cs typeface="Times New Roman" pitchFamily="18" charset="0"/>
                        </a:rPr>
                        <a:t>Increased communication load during detection</a:t>
                      </a:r>
                      <a:endParaRPr lang="en-IN" sz="1600" b="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US" sz="1600" b="0" dirty="0">
                          <a:latin typeface="Times New Roman" pitchFamily="18" charset="0"/>
                          <a:cs typeface="Times New Roman" pitchFamily="18" charset="0"/>
                        </a:rPr>
                        <a:t>2.</a:t>
                      </a:r>
                      <a:endParaRPr lang="en-IN" sz="16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itchFamily="18" charset="0"/>
                          <a:ea typeface="+mn-ea"/>
                          <a:cs typeface="Times New Roman" pitchFamily="18" charset="0"/>
                        </a:rPr>
                        <a:t>Design a Robust </a:t>
                      </a:r>
                      <a:r>
                        <a:rPr lang="en-US" sz="1600" b="0" i="0" kern="1200" dirty="0" err="1">
                          <a:solidFill>
                            <a:schemeClr val="dk1"/>
                          </a:solidFill>
                          <a:effectLst/>
                          <a:latin typeface="Times New Roman" pitchFamily="18" charset="0"/>
                          <a:ea typeface="+mn-ea"/>
                          <a:cs typeface="Times New Roman" pitchFamily="18" charset="0"/>
                        </a:rPr>
                        <a:t>DDoS</a:t>
                      </a:r>
                      <a:r>
                        <a:rPr lang="en-US" sz="1600" b="0" i="0" kern="1200" dirty="0">
                          <a:solidFill>
                            <a:schemeClr val="dk1"/>
                          </a:solidFill>
                          <a:effectLst/>
                          <a:latin typeface="Times New Roman" pitchFamily="18" charset="0"/>
                          <a:ea typeface="+mn-ea"/>
                          <a:cs typeface="Times New Roman" pitchFamily="18" charset="0"/>
                        </a:rPr>
                        <a:t> Attack Detection and Mitigation Scheme in SDN-Edge-IoT by Leveraging Machine Learning</a:t>
                      </a:r>
                    </a:p>
                  </a:txBody>
                  <a:tcPr/>
                </a:tc>
                <a:tc>
                  <a:txBody>
                    <a:bodyPr/>
                    <a:lstStyle/>
                    <a:p>
                      <a:r>
                        <a:rPr lang="en-IN" sz="1600" b="0" i="0" u="none" strike="noStrike" kern="1200" dirty="0" err="1">
                          <a:solidFill>
                            <a:schemeClr val="dk1"/>
                          </a:solidFill>
                          <a:effectLst/>
                          <a:latin typeface="Times New Roman" pitchFamily="18" charset="0"/>
                          <a:ea typeface="+mn-ea"/>
                          <a:cs typeface="Times New Roman" pitchFamily="18" charset="0"/>
                        </a:rPr>
                        <a:t>Habtamu</a:t>
                      </a:r>
                      <a:r>
                        <a:rPr lang="en-IN" sz="1600" b="0" i="0" u="none" strike="noStrike" kern="1200" dirty="0">
                          <a:solidFill>
                            <a:schemeClr val="dk1"/>
                          </a:solidFill>
                          <a:effectLst/>
                          <a:latin typeface="Times New Roman" pitchFamily="18" charset="0"/>
                          <a:ea typeface="+mn-ea"/>
                          <a:cs typeface="Times New Roman" pitchFamily="18" charset="0"/>
                        </a:rPr>
                        <a:t> </a:t>
                      </a:r>
                      <a:r>
                        <a:rPr lang="en-IN" sz="1600" b="0" i="0" u="none" strike="noStrike" kern="1200" dirty="0" err="1">
                          <a:solidFill>
                            <a:schemeClr val="dk1"/>
                          </a:solidFill>
                          <a:effectLst/>
                          <a:latin typeface="Times New Roman" pitchFamily="18" charset="0"/>
                          <a:ea typeface="+mn-ea"/>
                          <a:cs typeface="Times New Roman" pitchFamily="18" charset="0"/>
                        </a:rPr>
                        <a:t>Molla</a:t>
                      </a:r>
                      <a:r>
                        <a:rPr lang="en-IN" sz="1600" b="0" i="0" u="none" strike="noStrike" kern="1200" dirty="0">
                          <a:solidFill>
                            <a:schemeClr val="dk1"/>
                          </a:solidFill>
                          <a:effectLst/>
                          <a:latin typeface="Times New Roman" pitchFamily="18" charset="0"/>
                          <a:ea typeface="+mn-ea"/>
                          <a:cs typeface="Times New Roman" pitchFamily="18" charset="0"/>
                        </a:rPr>
                        <a:t> </a:t>
                      </a:r>
                      <a:r>
                        <a:rPr lang="en-IN" sz="1600" b="0" i="0" u="none" strike="noStrike" kern="1200" dirty="0" err="1">
                          <a:solidFill>
                            <a:schemeClr val="dk1"/>
                          </a:solidFill>
                          <a:effectLst/>
                          <a:latin typeface="Times New Roman" pitchFamily="18" charset="0"/>
                          <a:ea typeface="+mn-ea"/>
                          <a:cs typeface="Times New Roman" pitchFamily="18" charset="0"/>
                        </a:rPr>
                        <a:t>Belachew</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Machine learning models enhance threat identification</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Difficult to implement and maintain.</a:t>
                      </a:r>
                      <a:endParaRPr lang="en-IN" sz="1600" b="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US" sz="1600" b="0" dirty="0">
                          <a:latin typeface="Times New Roman" pitchFamily="18" charset="0"/>
                          <a:cs typeface="Times New Roman" pitchFamily="18" charset="0"/>
                        </a:rPr>
                        <a:t>3.</a:t>
                      </a:r>
                      <a:endParaRPr lang="en-IN" sz="16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itchFamily="18" charset="0"/>
                          <a:ea typeface="+mn-ea"/>
                          <a:cs typeface="Times New Roman" pitchFamily="18" charset="0"/>
                        </a:rPr>
                        <a:t>A Hybrid Machine Learning - Fuzzy Cognitive Map Approach for Fast, Reliable </a:t>
                      </a:r>
                      <a:r>
                        <a:rPr lang="en-US" sz="1600" b="0" i="0" kern="1200" dirty="0" err="1">
                          <a:solidFill>
                            <a:schemeClr val="dk1"/>
                          </a:solidFill>
                          <a:effectLst/>
                          <a:latin typeface="Times New Roman" pitchFamily="18" charset="0"/>
                          <a:ea typeface="+mn-ea"/>
                          <a:cs typeface="Times New Roman" pitchFamily="18" charset="0"/>
                        </a:rPr>
                        <a:t>DDoS</a:t>
                      </a:r>
                      <a:r>
                        <a:rPr lang="en-US" sz="1600" b="0" i="0" kern="1200" dirty="0">
                          <a:solidFill>
                            <a:schemeClr val="dk1"/>
                          </a:solidFill>
                          <a:effectLst/>
                          <a:latin typeface="Times New Roman" pitchFamily="18" charset="0"/>
                          <a:ea typeface="+mn-ea"/>
                          <a:cs typeface="Times New Roman" pitchFamily="18" charset="0"/>
                        </a:rPr>
                        <a:t> Attack Detection</a:t>
                      </a:r>
                    </a:p>
                  </a:txBody>
                  <a:tcPr/>
                </a:tc>
                <a:tc>
                  <a:txBody>
                    <a:bodyPr/>
                    <a:lstStyle/>
                    <a:p>
                      <a:r>
                        <a:rPr lang="en-IN" sz="1600" b="0" i="0" u="none" strike="noStrike" kern="1200" dirty="0" err="1">
                          <a:solidFill>
                            <a:schemeClr val="dk1"/>
                          </a:solidFill>
                          <a:effectLst/>
                          <a:latin typeface="Times New Roman" pitchFamily="18" charset="0"/>
                          <a:ea typeface="+mn-ea"/>
                          <a:cs typeface="Times New Roman" pitchFamily="18" charset="0"/>
                        </a:rPr>
                        <a:t>Prathibha</a:t>
                      </a:r>
                      <a:r>
                        <a:rPr lang="en-IN" sz="1600" b="0" i="0" u="none" strike="noStrike" kern="1200" dirty="0">
                          <a:solidFill>
                            <a:schemeClr val="dk1"/>
                          </a:solidFill>
                          <a:effectLst/>
                          <a:latin typeface="Times New Roman" pitchFamily="18" charset="0"/>
                          <a:ea typeface="+mn-ea"/>
                          <a:cs typeface="Times New Roman" pitchFamily="18" charset="0"/>
                        </a:rPr>
                        <a:t> </a:t>
                      </a:r>
                      <a:r>
                        <a:rPr lang="en-IN" sz="1600" b="0" i="0" u="none" strike="noStrike" kern="1200" dirty="0" err="1">
                          <a:solidFill>
                            <a:schemeClr val="dk1"/>
                          </a:solidFill>
                          <a:effectLst/>
                          <a:latin typeface="Times New Roman" pitchFamily="18" charset="0"/>
                          <a:ea typeface="+mn-ea"/>
                          <a:cs typeface="Times New Roman" pitchFamily="18" charset="0"/>
                        </a:rPr>
                        <a:t>Keshavamurthy</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Hybrid approach enhances system robustness</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Needs substantial labeled data for effective learning</a:t>
                      </a:r>
                      <a:endParaRPr lang="en-IN" sz="1600" b="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8414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76130121"/>
              </p:ext>
            </p:extLst>
          </p:nvPr>
        </p:nvGraphicFramePr>
        <p:xfrm>
          <a:off x="1981200" y="1600200"/>
          <a:ext cx="8229600" cy="2748280"/>
        </p:xfrm>
        <a:graphic>
          <a:graphicData uri="http://schemas.openxmlformats.org/drawingml/2006/table">
            <a:tbl>
              <a:tblPr firstRow="1" bandRow="1">
                <a:tableStyleId>{5C22544A-7EE6-4342-B048-85BDC9FD1C3A}</a:tableStyleId>
              </a:tblPr>
              <a:tblGrid>
                <a:gridCol w="802432">
                  <a:extLst>
                    <a:ext uri="{9D8B030D-6E8A-4147-A177-3AD203B41FA5}">
                      <a16:colId xmlns:a16="http://schemas.microsoft.com/office/drawing/2014/main" val="20000"/>
                    </a:ext>
                  </a:extLst>
                </a:gridCol>
                <a:gridCol w="2489408">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70840">
                <a:tc>
                  <a:txBody>
                    <a:bodyPr/>
                    <a:lstStyle/>
                    <a:p>
                      <a:r>
                        <a:rPr lang="en-US" dirty="0" err="1"/>
                        <a:t>S.No</a:t>
                      </a:r>
                      <a:endParaRPr lang="en-IN" dirty="0"/>
                    </a:p>
                  </a:txBody>
                  <a:tcPr/>
                </a:tc>
                <a:tc>
                  <a:txBody>
                    <a:bodyPr/>
                    <a:lstStyle/>
                    <a:p>
                      <a:r>
                        <a:rPr lang="en-US" dirty="0"/>
                        <a:t>Title</a:t>
                      </a:r>
                      <a:endParaRPr lang="en-IN" dirty="0"/>
                    </a:p>
                  </a:txBody>
                  <a:tcPr/>
                </a:tc>
                <a:tc>
                  <a:txBody>
                    <a:bodyPr/>
                    <a:lstStyle/>
                    <a:p>
                      <a:r>
                        <a:rPr lang="en-US" dirty="0"/>
                        <a:t>Author</a:t>
                      </a:r>
                      <a:endParaRPr lang="en-IN" dirty="0"/>
                    </a:p>
                  </a:txBody>
                  <a:tcPr/>
                </a:tc>
                <a:tc>
                  <a:txBody>
                    <a:bodyPr/>
                    <a:lstStyle/>
                    <a:p>
                      <a:r>
                        <a:rPr lang="en-US" dirty="0"/>
                        <a:t>Merits</a:t>
                      </a:r>
                      <a:endParaRPr lang="en-IN" dirty="0"/>
                    </a:p>
                  </a:txBody>
                  <a:tcPr/>
                </a:tc>
                <a:tc>
                  <a:txBody>
                    <a:bodyPr/>
                    <a:lstStyle/>
                    <a:p>
                      <a:r>
                        <a:rPr lang="en-US" dirty="0"/>
                        <a:t>Demerits</a:t>
                      </a:r>
                      <a:endParaRPr lang="en-IN" dirty="0"/>
                    </a:p>
                  </a:txBody>
                  <a:tcPr/>
                </a:tc>
                <a:extLst>
                  <a:ext uri="{0D108BD9-81ED-4DB2-BD59-A6C34878D82A}">
                    <a16:rowId xmlns:a16="http://schemas.microsoft.com/office/drawing/2014/main" val="10000"/>
                  </a:ext>
                </a:extLst>
              </a:tr>
              <a:tr h="370840">
                <a:tc>
                  <a:txBody>
                    <a:bodyPr/>
                    <a:lstStyle/>
                    <a:p>
                      <a:r>
                        <a:rPr lang="en-US" sz="1600" b="0" dirty="0">
                          <a:latin typeface="Times New Roman" pitchFamily="18" charset="0"/>
                          <a:cs typeface="Times New Roman" pitchFamily="18" charset="0"/>
                        </a:rPr>
                        <a:t>4.</a:t>
                      </a:r>
                      <a:endParaRPr lang="en-IN" sz="16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itchFamily="18" charset="0"/>
                          <a:ea typeface="+mn-ea"/>
                          <a:cs typeface="Times New Roman" pitchFamily="18" charset="0"/>
                        </a:rPr>
                        <a:t>User Terminals as Attackers: An Open Dataset Analysis of </a:t>
                      </a:r>
                      <a:r>
                        <a:rPr lang="en-US" sz="1600" b="0" i="0" kern="1200" dirty="0" err="1">
                          <a:solidFill>
                            <a:schemeClr val="dk1"/>
                          </a:solidFill>
                          <a:effectLst/>
                          <a:latin typeface="Times New Roman" pitchFamily="18" charset="0"/>
                          <a:ea typeface="+mn-ea"/>
                          <a:cs typeface="Times New Roman" pitchFamily="18" charset="0"/>
                        </a:rPr>
                        <a:t>DDoS</a:t>
                      </a:r>
                      <a:r>
                        <a:rPr lang="en-US" sz="1600" b="0" i="0" kern="1200" dirty="0">
                          <a:solidFill>
                            <a:schemeClr val="dk1"/>
                          </a:solidFill>
                          <a:effectLst/>
                          <a:latin typeface="Times New Roman" pitchFamily="18" charset="0"/>
                          <a:ea typeface="+mn-ea"/>
                          <a:cs typeface="Times New Roman" pitchFamily="18" charset="0"/>
                        </a:rPr>
                        <a:t> Attacks in 5G Networks</a:t>
                      </a:r>
                    </a:p>
                  </a:txBody>
                  <a:tcPr/>
                </a:tc>
                <a:tc>
                  <a:txBody>
                    <a:bodyPr/>
                    <a:lstStyle/>
                    <a:p>
                      <a:r>
                        <a:rPr lang="en-IN" sz="1600" b="0" i="0" u="none" strike="noStrike" kern="1200" dirty="0">
                          <a:solidFill>
                            <a:schemeClr val="dk1"/>
                          </a:solidFill>
                          <a:effectLst/>
                          <a:latin typeface="Times New Roman" pitchFamily="18" charset="0"/>
                          <a:ea typeface="+mn-ea"/>
                          <a:cs typeface="Times New Roman" pitchFamily="18" charset="0"/>
                        </a:rPr>
                        <a:t>Maria </a:t>
                      </a:r>
                      <a:r>
                        <a:rPr lang="en-IN" sz="1600" b="0" i="0" u="none" strike="noStrike" kern="1200" dirty="0" err="1">
                          <a:solidFill>
                            <a:schemeClr val="dk1"/>
                          </a:solidFill>
                          <a:effectLst/>
                          <a:latin typeface="Times New Roman" pitchFamily="18" charset="0"/>
                          <a:ea typeface="+mn-ea"/>
                          <a:cs typeface="Times New Roman" pitchFamily="18" charset="0"/>
                        </a:rPr>
                        <a:t>Christopoulou</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Freely available for further study and model training.</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May not reflect the full spectrum of attack tactics.</a:t>
                      </a:r>
                      <a:endParaRPr lang="en-IN" sz="1600" b="0"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US" sz="1600" b="0" dirty="0">
                          <a:latin typeface="Times New Roman" pitchFamily="18" charset="0"/>
                          <a:cs typeface="Times New Roman" pitchFamily="18" charset="0"/>
                        </a:rPr>
                        <a:t>5.</a:t>
                      </a:r>
                      <a:endParaRPr lang="en-IN" sz="1600" b="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itchFamily="18" charset="0"/>
                          <a:ea typeface="+mn-ea"/>
                          <a:cs typeface="Times New Roman" pitchFamily="18" charset="0"/>
                        </a:rPr>
                        <a:t>An Explanatory Machine Learning Method for the Identification of </a:t>
                      </a:r>
                      <a:r>
                        <a:rPr lang="en-US" sz="1600" b="0" i="0" kern="1200" dirty="0" err="1">
                          <a:solidFill>
                            <a:schemeClr val="dk1"/>
                          </a:solidFill>
                          <a:effectLst/>
                          <a:latin typeface="Times New Roman" pitchFamily="18" charset="0"/>
                          <a:ea typeface="+mn-ea"/>
                          <a:cs typeface="Times New Roman" pitchFamily="18" charset="0"/>
                        </a:rPr>
                        <a:t>DDoS</a:t>
                      </a:r>
                      <a:r>
                        <a:rPr lang="en-US" sz="1600" b="0" i="0" kern="1200" dirty="0">
                          <a:solidFill>
                            <a:schemeClr val="dk1"/>
                          </a:solidFill>
                          <a:effectLst/>
                          <a:latin typeface="Times New Roman" pitchFamily="18" charset="0"/>
                          <a:ea typeface="+mn-ea"/>
                          <a:cs typeface="Times New Roman" pitchFamily="18" charset="0"/>
                        </a:rPr>
                        <a:t> Attacks in SDN Architectures</a:t>
                      </a:r>
                    </a:p>
                  </a:txBody>
                  <a:tcPr/>
                </a:tc>
                <a:tc>
                  <a:txBody>
                    <a:bodyPr/>
                    <a:lstStyle/>
                    <a:p>
                      <a:r>
                        <a:rPr lang="en-IN" sz="1600" b="0" i="0" u="none" strike="noStrike" kern="1200" dirty="0" err="1">
                          <a:solidFill>
                            <a:schemeClr val="dk1"/>
                          </a:solidFill>
                          <a:effectLst/>
                          <a:latin typeface="Times New Roman" pitchFamily="18" charset="0"/>
                          <a:ea typeface="+mn-ea"/>
                          <a:cs typeface="Times New Roman" pitchFamily="18" charset="0"/>
                        </a:rPr>
                        <a:t>Himmat</a:t>
                      </a:r>
                      <a:r>
                        <a:rPr lang="en-IN" sz="1600" b="0" i="0" u="none" strike="noStrike" kern="1200" dirty="0">
                          <a:solidFill>
                            <a:schemeClr val="dk1"/>
                          </a:solidFill>
                          <a:effectLst/>
                          <a:latin typeface="Times New Roman" pitchFamily="18" charset="0"/>
                          <a:ea typeface="+mn-ea"/>
                          <a:cs typeface="Times New Roman" pitchFamily="18" charset="0"/>
                        </a:rPr>
                        <a:t> </a:t>
                      </a:r>
                      <a:r>
                        <a:rPr lang="en-IN" sz="1600" b="0" i="0" u="none" strike="noStrike" kern="1200" dirty="0" err="1">
                          <a:solidFill>
                            <a:schemeClr val="dk1"/>
                          </a:solidFill>
                          <a:effectLst/>
                          <a:latin typeface="Times New Roman" pitchFamily="18" charset="0"/>
                          <a:ea typeface="+mn-ea"/>
                          <a:cs typeface="Times New Roman" pitchFamily="18" charset="0"/>
                        </a:rPr>
                        <a:t>Rathore</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Reduces manual intervention in attack detection and response</a:t>
                      </a:r>
                      <a:endParaRPr lang="en-IN" sz="1600" b="0" dirty="0">
                        <a:latin typeface="Times New Roman" pitchFamily="18" charset="0"/>
                        <a:cs typeface="Times New Roman" pitchFamily="18" charset="0"/>
                      </a:endParaRPr>
                    </a:p>
                  </a:txBody>
                  <a:tcPr/>
                </a:tc>
                <a:tc>
                  <a:txBody>
                    <a:bodyPr/>
                    <a:lstStyle/>
                    <a:p>
                      <a:r>
                        <a:rPr lang="en-US" sz="1600" b="0" dirty="0">
                          <a:latin typeface="Times New Roman" pitchFamily="18" charset="0"/>
                          <a:cs typeface="Times New Roman" pitchFamily="18" charset="0"/>
                        </a:rPr>
                        <a:t>Risk of misclassifying normal traffic as an attack</a:t>
                      </a:r>
                      <a:endParaRPr lang="en-IN" sz="1600" b="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05930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Proposed system</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55000" lnSpcReduction="20000"/>
          </a:bodyPr>
          <a:lstStyle/>
          <a:p>
            <a:pPr algn="just">
              <a:lnSpc>
                <a:spcPct val="150000"/>
              </a:lnSpc>
            </a:pPr>
            <a:r>
              <a:rPr lang="en-US" dirty="0">
                <a:latin typeface="Times New Roman" pitchFamily="18" charset="0"/>
                <a:cs typeface="Times New Roman" pitchFamily="18" charset="0"/>
              </a:rPr>
              <a:t>The project proposes a method to detect and prevent DDoS attacks in cloud storage using federated learning. This approach allows multiple cloud nodes to train a detection model without sharing raw data, ensuring privacy and security. By analyzing network traffic patterns, the system can identify and mitigate potential DDoS threats.</a:t>
            </a:r>
          </a:p>
          <a:p>
            <a:pPr algn="just">
              <a:lnSpc>
                <a:spcPct val="150000"/>
              </a:lnSpc>
            </a:pPr>
            <a:r>
              <a:rPr lang="en-US" dirty="0">
                <a:latin typeface="Times New Roman" pitchFamily="18" charset="0"/>
                <a:cs typeface="Times New Roman" pitchFamily="18" charset="0"/>
              </a:rPr>
              <a:t>To enhance security, a face biometric-based authentication system is implemented. This ensures that only the authorized data owner can access cloud files. The authentication process verifies the user's identity through facial recognition, preventing unauthorized access and securing sensitive information.</a:t>
            </a:r>
          </a:p>
          <a:p>
            <a:pPr algn="just">
              <a:lnSpc>
                <a:spcPct val="150000"/>
              </a:lnSpc>
            </a:pPr>
            <a:r>
              <a:rPr lang="en-US" dirty="0">
                <a:latin typeface="Times New Roman" pitchFamily="18" charset="0"/>
                <a:cs typeface="Times New Roman" pitchFamily="18" charset="0"/>
              </a:rPr>
              <a:t>An alert system is integrated to notify the data owner of any unauthorized access attempts. If an unknown user tries to access the files, the system triggers an alert and allows the owner to block the unauthorized ID. This approach improves cloud security by preventing data breaches and unauthorized access.</a:t>
            </a:r>
          </a:p>
          <a:p>
            <a:endParaRPr lang="en-IN" dirty="0"/>
          </a:p>
        </p:txBody>
      </p:sp>
    </p:spTree>
    <p:extLst>
      <p:ext uri="{BB962C8B-B14F-4D97-AF65-F5344CB8AC3E}">
        <p14:creationId xmlns:p14="http://schemas.microsoft.com/office/powerpoint/2010/main" val="2921703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IN" sz="4000" b="1" dirty="0">
              <a:latin typeface="Times New Roman" pitchFamily="18" charset="0"/>
              <a:cs typeface="Times New Roman" pitchFamily="18" charset="0"/>
            </a:endParaRPr>
          </a:p>
        </p:txBody>
      </p:sp>
      <p:pic>
        <p:nvPicPr>
          <p:cNvPr id="17" name="Content Placeholder 16">
            <a:extLst>
              <a:ext uri="{FF2B5EF4-FFF2-40B4-BE49-F238E27FC236}">
                <a16:creationId xmlns:a16="http://schemas.microsoft.com/office/drawing/2014/main" id="{609C8029-87B4-6EDD-AD96-F79C895FCE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47528" y="-171400"/>
            <a:ext cx="8640960" cy="7499176"/>
          </a:xfrm>
          <a:prstGeom prst="rect">
            <a:avLst/>
          </a:prstGeom>
        </p:spPr>
      </p:pic>
      <p:sp>
        <p:nvSpPr>
          <p:cNvPr id="18" name="TextBox 17">
            <a:extLst>
              <a:ext uri="{FF2B5EF4-FFF2-40B4-BE49-F238E27FC236}">
                <a16:creationId xmlns:a16="http://schemas.microsoft.com/office/drawing/2014/main" id="{EA1EFEB4-D0B7-1B03-E1D8-1BCB4904F8CD}"/>
              </a:ext>
            </a:extLst>
          </p:cNvPr>
          <p:cNvSpPr txBox="1"/>
          <p:nvPr/>
        </p:nvSpPr>
        <p:spPr>
          <a:xfrm>
            <a:off x="5231904" y="4509121"/>
            <a:ext cx="1584176" cy="307777"/>
          </a:xfrm>
          <a:prstGeom prst="rect">
            <a:avLst/>
          </a:prstGeom>
          <a:solidFill>
            <a:schemeClr val="bg1"/>
          </a:solidFill>
        </p:spPr>
        <p:txBody>
          <a:bodyPr wrap="square" rtlCol="0">
            <a:spAutoFit/>
          </a:bodyPr>
          <a:lstStyle/>
          <a:p>
            <a:r>
              <a:rPr lang="en-US" sz="1400" dirty="0"/>
              <a:t>             database</a:t>
            </a:r>
            <a:endParaRPr lang="en-IN" sz="1400" dirty="0"/>
          </a:p>
        </p:txBody>
      </p:sp>
    </p:spTree>
    <p:extLst>
      <p:ext uri="{BB962C8B-B14F-4D97-AF65-F5344CB8AC3E}">
        <p14:creationId xmlns:p14="http://schemas.microsoft.com/office/powerpoint/2010/main" val="4166217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Work done far</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50000"/>
              </a:lnSpc>
            </a:pPr>
            <a:r>
              <a:rPr lang="en-US" sz="1800" dirty="0">
                <a:latin typeface="Times New Roman" pitchFamily="18" charset="0"/>
                <a:cs typeface="Times New Roman" pitchFamily="18" charset="0"/>
              </a:rPr>
              <a:t>So far, the project has completed the study of DDoS attacks and their impact on network security. Relevant datasets were identified, and network traffic data was collected for analysis.</a:t>
            </a:r>
          </a:p>
          <a:p>
            <a:pPr algn="just">
              <a:lnSpc>
                <a:spcPct val="150000"/>
              </a:lnSpc>
            </a:pPr>
            <a:r>
              <a:rPr lang="en-US" sz="1800" dirty="0">
                <a:latin typeface="Times New Roman" pitchFamily="18" charset="0"/>
                <a:cs typeface="Times New Roman" pitchFamily="18" charset="0"/>
              </a:rPr>
              <a:t>Data preprocessing and feature extraction were performed to prepare meaningful traffic attributes for learning. The Random Forest model was selected and trained using the processed dataset.</a:t>
            </a:r>
          </a:p>
          <a:p>
            <a:pPr algn="just">
              <a:lnSpc>
                <a:spcPct val="150000"/>
              </a:lnSpc>
            </a:pPr>
            <a:r>
              <a:rPr lang="en-US" sz="1800" dirty="0">
                <a:latin typeface="Times New Roman" pitchFamily="18" charset="0"/>
                <a:cs typeface="Times New Roman" pitchFamily="18" charset="0"/>
              </a:rPr>
              <a:t>A basic detection workflow was implemented to classify traffic as normal or DDoS. Initial testing shows promising accuracy, and alert generation for detected attacks has been designed.</a:t>
            </a:r>
          </a:p>
          <a:p>
            <a:pPr algn="just">
              <a:lnSpc>
                <a:spcPct val="150000"/>
              </a:lnSpc>
            </a:pP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4165372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imes New Roman" pitchFamily="18" charset="0"/>
                <a:cs typeface="Times New Roman" pitchFamily="18" charset="0"/>
              </a:rPr>
              <a:t>Work Yet to Be Done</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50000"/>
              </a:lnSpc>
            </a:pPr>
            <a:r>
              <a:rPr lang="en-US" sz="2000" dirty="0">
                <a:latin typeface="Times New Roman" pitchFamily="18" charset="0"/>
                <a:cs typeface="Times New Roman" pitchFamily="18" charset="0"/>
              </a:rPr>
              <a:t>The remaining work includes fine-tuning the Random Forest model to further improve detection accuracy and reduce false positives. Additional features may be analyzed to enhance classification performance.</a:t>
            </a:r>
          </a:p>
          <a:p>
            <a:pPr algn="just">
              <a:lnSpc>
                <a:spcPct val="150000"/>
              </a:lnSpc>
            </a:pPr>
            <a:r>
              <a:rPr lang="en-US" sz="2000" dirty="0">
                <a:latin typeface="Times New Roman" pitchFamily="18" charset="0"/>
                <a:cs typeface="Times New Roman" pitchFamily="18" charset="0"/>
              </a:rPr>
              <a:t>Real-time traffic monitoring and full alert integration need to be implemented and tested. Finally, extensive evaluation using multiple datasets and performance metrics will be conducted to validate system reliability.</a:t>
            </a:r>
          </a:p>
          <a:p>
            <a:pPr algn="just">
              <a:lnSpc>
                <a:spcPct val="150000"/>
              </a:lnSpc>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543479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b="1" dirty="0">
                <a:latin typeface="Times New Roman" pitchFamily="18" charset="0"/>
                <a:cs typeface="Times New Roman" pitchFamily="18" charset="0"/>
              </a:rPr>
              <a:t>Execution of First Module</a:t>
            </a:r>
          </a:p>
        </p:txBody>
      </p:sp>
      <p:pic>
        <p:nvPicPr>
          <p:cNvPr id="4" name="Picture 3">
            <a:extLst>
              <a:ext uri="{FF2B5EF4-FFF2-40B4-BE49-F238E27FC236}">
                <a16:creationId xmlns:a16="http://schemas.microsoft.com/office/drawing/2014/main" id="{84620065-919F-F935-E2CB-3B3B21DB95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4676" y="1700808"/>
            <a:ext cx="8028384" cy="4515966"/>
          </a:xfrm>
          <a:prstGeom prst="rect">
            <a:avLst/>
          </a:prstGeom>
        </p:spPr>
      </p:pic>
    </p:spTree>
    <p:extLst>
      <p:ext uri="{BB962C8B-B14F-4D97-AF65-F5344CB8AC3E}">
        <p14:creationId xmlns:p14="http://schemas.microsoft.com/office/powerpoint/2010/main" val="12217258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9B8FC9-7DF5-FC09-E48F-C97244AD94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45815" y="1484784"/>
            <a:ext cx="7900370" cy="4443958"/>
          </a:xfrm>
          <a:prstGeom prst="rect">
            <a:avLst/>
          </a:prstGeom>
        </p:spPr>
      </p:pic>
    </p:spTree>
    <p:extLst>
      <p:ext uri="{BB962C8B-B14F-4D97-AF65-F5344CB8AC3E}">
        <p14:creationId xmlns:p14="http://schemas.microsoft.com/office/powerpoint/2010/main" val="1541888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latin typeface="Times New Roman" pitchFamily="18" charset="0"/>
                <a:cs typeface="Times New Roman" pitchFamily="18" charset="0"/>
              </a:rPr>
              <a:t>Expected Outcome</a:t>
            </a:r>
          </a:p>
        </p:txBody>
      </p:sp>
      <p:sp>
        <p:nvSpPr>
          <p:cNvPr id="3" name="Content Placeholder 2"/>
          <p:cNvSpPr>
            <a:spLocks noGrp="1"/>
          </p:cNvSpPr>
          <p:nvPr>
            <p:ph idx="1"/>
          </p:nvPr>
        </p:nvSpPr>
        <p:spPr/>
        <p:txBody>
          <a:bodyPr>
            <a:normAutofit/>
          </a:bodyPr>
          <a:lstStyle/>
          <a:p>
            <a:pPr algn="just">
              <a:lnSpc>
                <a:spcPct val="150000"/>
              </a:lnSpc>
            </a:pPr>
            <a:r>
              <a:rPr lang="en-US" sz="2000" dirty="0">
                <a:latin typeface="Times New Roman" pitchFamily="18" charset="0"/>
                <a:cs typeface="Times New Roman" pitchFamily="18" charset="0"/>
              </a:rPr>
              <a:t>The system accurately detects DDoS attacks using Random Forest, distinguishing malicious traffic from legitimate network behavior effectively.</a:t>
            </a:r>
          </a:p>
          <a:p>
            <a:pPr algn="just">
              <a:lnSpc>
                <a:spcPct val="150000"/>
              </a:lnSpc>
            </a:pPr>
            <a:r>
              <a:rPr lang="en-US" sz="2000" dirty="0">
                <a:latin typeface="Times New Roman" pitchFamily="18" charset="0"/>
                <a:cs typeface="Times New Roman" pitchFamily="18" charset="0"/>
              </a:rPr>
              <a:t>It reduces false positives and enables real-time monitoring, allowing timely response and mitigation of potential service disruptions.</a:t>
            </a:r>
          </a:p>
          <a:p>
            <a:pPr algn="just">
              <a:lnSpc>
                <a:spcPct val="150000"/>
              </a:lnSpc>
            </a:pPr>
            <a:r>
              <a:rPr lang="en-US" sz="2000" dirty="0">
                <a:latin typeface="Times New Roman" pitchFamily="18" charset="0"/>
                <a:cs typeface="Times New Roman" pitchFamily="18" charset="0"/>
              </a:rPr>
              <a:t>Overall, the project enhances network security, improves service availability, and strengthens resilience against evolving cyber threats.</a:t>
            </a:r>
          </a:p>
          <a:p>
            <a:pPr algn="just">
              <a:lnSpc>
                <a:spcPct val="150000"/>
              </a:lnSpc>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330151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itchFamily="18" charset="0"/>
                <a:cs typeface="Times New Roman" pitchFamily="18" charset="0"/>
              </a:rPr>
              <a:t>Conclusion</a:t>
            </a:r>
            <a:endParaRPr lang="en-IN"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algn="just">
              <a:lnSpc>
                <a:spcPct val="150000"/>
              </a:lnSpc>
            </a:pPr>
            <a:r>
              <a:rPr lang="en-US" sz="1800" dirty="0">
                <a:latin typeface="Times New Roman" pitchFamily="18" charset="0"/>
                <a:cs typeface="Times New Roman" pitchFamily="18" charset="0"/>
              </a:rPr>
              <a:t>This project successfully demonstrates the effectiveness of a approach for detecting Distributed Denial of Service (DDoS) attacks using the Random Forest algorithm. By analyzing network traffic features and learning patterns from historical data, the system is able to accurately distinguish between normal and malicious traffic.</a:t>
            </a:r>
          </a:p>
          <a:p>
            <a:pPr algn="just">
              <a:lnSpc>
                <a:spcPct val="150000"/>
              </a:lnSpc>
            </a:pPr>
            <a:r>
              <a:rPr lang="en-US" sz="1800" dirty="0">
                <a:latin typeface="Times New Roman" pitchFamily="18" charset="0"/>
                <a:cs typeface="Times New Roman" pitchFamily="18" charset="0"/>
              </a:rPr>
              <a:t>The proposed workflow, which includes data collection, preprocessing, feature engineering, model training, and real-time detection, ensures reliable performance and timely alert generation. The reduction in false positives and improved detection accuracy highlight the advantage over traditional rule-based methods.</a:t>
            </a:r>
          </a:p>
          <a:p>
            <a:pPr algn="just">
              <a:lnSpc>
                <a:spcPct val="150000"/>
              </a:lnSpc>
            </a:pP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543741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References</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lnSpc>
                <a:spcPct val="150000"/>
              </a:lnSpc>
            </a:pPr>
            <a:r>
              <a:rPr lang="en-IN" sz="1600" dirty="0" err="1">
                <a:latin typeface="Times New Roman" pitchFamily="18" charset="0"/>
                <a:cs typeface="Times New Roman" pitchFamily="18" charset="0"/>
              </a:rPr>
              <a:t>Hirsi</a:t>
            </a: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Abdinasir</a:t>
            </a:r>
            <a:r>
              <a:rPr lang="en-IN" sz="1600" dirty="0">
                <a:latin typeface="Times New Roman" pitchFamily="18" charset="0"/>
                <a:cs typeface="Times New Roman" pitchFamily="18" charset="0"/>
              </a:rPr>
              <a:t>, et al. "Comprehensive Analysis of </a:t>
            </a:r>
            <a:r>
              <a:rPr lang="en-IN" sz="1600" dirty="0" err="1">
                <a:latin typeface="Times New Roman" pitchFamily="18" charset="0"/>
                <a:cs typeface="Times New Roman" pitchFamily="18" charset="0"/>
              </a:rPr>
              <a:t>DDoS</a:t>
            </a:r>
            <a:r>
              <a:rPr lang="en-IN" sz="1600" dirty="0">
                <a:latin typeface="Times New Roman" pitchFamily="18" charset="0"/>
                <a:cs typeface="Times New Roman" pitchFamily="18" charset="0"/>
              </a:rPr>
              <a:t> Anomaly Detection in Software-Defined Networks." </a:t>
            </a:r>
            <a:r>
              <a:rPr lang="en-IN" sz="1600" i="1" dirty="0">
                <a:latin typeface="Times New Roman" pitchFamily="18" charset="0"/>
                <a:cs typeface="Times New Roman" pitchFamily="18" charset="0"/>
              </a:rPr>
              <a:t>IEEE Access</a:t>
            </a:r>
            <a:r>
              <a:rPr lang="en-IN" sz="1600" dirty="0">
                <a:latin typeface="Times New Roman" pitchFamily="18" charset="0"/>
                <a:cs typeface="Times New Roman" pitchFamily="18" charset="0"/>
              </a:rPr>
              <a:t> (2025).</a:t>
            </a:r>
          </a:p>
          <a:p>
            <a:pPr algn="just">
              <a:lnSpc>
                <a:spcPct val="150000"/>
              </a:lnSpc>
            </a:pPr>
            <a:r>
              <a:rPr lang="en-IN" sz="1600" dirty="0" err="1">
                <a:latin typeface="Times New Roman" pitchFamily="18" charset="0"/>
                <a:cs typeface="Times New Roman" pitchFamily="18" charset="0"/>
              </a:rPr>
              <a:t>Belachew</a:t>
            </a: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Habtamu</a:t>
            </a: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Molla</a:t>
            </a:r>
            <a:r>
              <a:rPr lang="en-IN" sz="1600" dirty="0">
                <a:latin typeface="Times New Roman" pitchFamily="18" charset="0"/>
                <a:cs typeface="Times New Roman" pitchFamily="18" charset="0"/>
              </a:rPr>
              <a:t>, et al. "Design a Robust </a:t>
            </a:r>
            <a:r>
              <a:rPr lang="en-IN" sz="1600" dirty="0" err="1">
                <a:latin typeface="Times New Roman" pitchFamily="18" charset="0"/>
                <a:cs typeface="Times New Roman" pitchFamily="18" charset="0"/>
              </a:rPr>
              <a:t>DDoS</a:t>
            </a:r>
            <a:r>
              <a:rPr lang="en-IN" sz="1600" dirty="0">
                <a:latin typeface="Times New Roman" pitchFamily="18" charset="0"/>
                <a:cs typeface="Times New Roman" pitchFamily="18" charset="0"/>
              </a:rPr>
              <a:t> Attack Detection and Mitigation Scheme in SDN-Edge-IoT by Leveraging Machine Learning." </a:t>
            </a:r>
            <a:r>
              <a:rPr lang="en-IN" sz="1600" i="1" dirty="0">
                <a:latin typeface="Times New Roman" pitchFamily="18" charset="0"/>
                <a:cs typeface="Times New Roman" pitchFamily="18" charset="0"/>
              </a:rPr>
              <a:t>IEEE Access</a:t>
            </a:r>
            <a:r>
              <a:rPr lang="en-IN" sz="1600" dirty="0">
                <a:latin typeface="Times New Roman" pitchFamily="18" charset="0"/>
                <a:cs typeface="Times New Roman" pitchFamily="18" charset="0"/>
              </a:rPr>
              <a:t> (2025).</a:t>
            </a:r>
          </a:p>
          <a:p>
            <a:pPr algn="just">
              <a:lnSpc>
                <a:spcPct val="150000"/>
              </a:lnSpc>
            </a:pPr>
            <a:r>
              <a:rPr lang="en-IN" sz="1600" dirty="0" err="1">
                <a:latin typeface="Times New Roman" pitchFamily="18" charset="0"/>
                <a:cs typeface="Times New Roman" pitchFamily="18" charset="0"/>
              </a:rPr>
              <a:t>Keshavamurthy</a:t>
            </a: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Prathibha</a:t>
            </a:r>
            <a:r>
              <a:rPr lang="en-IN" sz="1600" dirty="0">
                <a:latin typeface="Times New Roman" pitchFamily="18" charset="0"/>
                <a:cs typeface="Times New Roman" pitchFamily="18" charset="0"/>
              </a:rPr>
              <a:t>, and </a:t>
            </a:r>
            <a:r>
              <a:rPr lang="en-IN" sz="1600" dirty="0" err="1">
                <a:latin typeface="Times New Roman" pitchFamily="18" charset="0"/>
                <a:cs typeface="Times New Roman" pitchFamily="18" charset="0"/>
              </a:rPr>
              <a:t>Sarvesh</a:t>
            </a:r>
            <a:r>
              <a:rPr lang="en-IN" sz="1600" dirty="0">
                <a:latin typeface="Times New Roman" pitchFamily="18" charset="0"/>
                <a:cs typeface="Times New Roman" pitchFamily="18" charset="0"/>
              </a:rPr>
              <a:t> </a:t>
            </a:r>
            <a:r>
              <a:rPr lang="en-IN" sz="1600" dirty="0" err="1">
                <a:latin typeface="Times New Roman" pitchFamily="18" charset="0"/>
                <a:cs typeface="Times New Roman" pitchFamily="18" charset="0"/>
              </a:rPr>
              <a:t>Kulkarni</a:t>
            </a:r>
            <a:r>
              <a:rPr lang="en-IN" sz="1600" dirty="0">
                <a:latin typeface="Times New Roman" pitchFamily="18" charset="0"/>
                <a:cs typeface="Times New Roman" pitchFamily="18" charset="0"/>
              </a:rPr>
              <a:t>. "A Hybrid Machine Learning-Fuzzy Cognitive Map Approach for Fast, Reliable </a:t>
            </a:r>
            <a:r>
              <a:rPr lang="en-IN" sz="1600" dirty="0" err="1">
                <a:latin typeface="Times New Roman" pitchFamily="18" charset="0"/>
                <a:cs typeface="Times New Roman" pitchFamily="18" charset="0"/>
              </a:rPr>
              <a:t>DDoS</a:t>
            </a:r>
            <a:r>
              <a:rPr lang="en-IN" sz="1600" dirty="0">
                <a:latin typeface="Times New Roman" pitchFamily="18" charset="0"/>
                <a:cs typeface="Times New Roman" pitchFamily="18" charset="0"/>
              </a:rPr>
              <a:t> Attack Detection." </a:t>
            </a:r>
            <a:r>
              <a:rPr lang="en-IN" sz="1600" i="1" dirty="0">
                <a:latin typeface="Times New Roman" pitchFamily="18" charset="0"/>
                <a:cs typeface="Times New Roman" pitchFamily="18" charset="0"/>
              </a:rPr>
              <a:t>2024 8th Cyber Security in Networking Conference (</a:t>
            </a:r>
            <a:r>
              <a:rPr lang="en-IN" sz="1600" i="1" dirty="0" err="1">
                <a:latin typeface="Times New Roman" pitchFamily="18" charset="0"/>
                <a:cs typeface="Times New Roman" pitchFamily="18" charset="0"/>
              </a:rPr>
              <a:t>CSNet</a:t>
            </a:r>
            <a:r>
              <a:rPr lang="en-IN" sz="1600" i="1" dirty="0">
                <a:latin typeface="Times New Roman" pitchFamily="18" charset="0"/>
                <a:cs typeface="Times New Roman" pitchFamily="18" charset="0"/>
              </a:rPr>
              <a:t>)</a:t>
            </a:r>
            <a:r>
              <a:rPr lang="en-IN" sz="1600" dirty="0">
                <a:latin typeface="Times New Roman" pitchFamily="18" charset="0"/>
                <a:cs typeface="Times New Roman" pitchFamily="18" charset="0"/>
              </a:rPr>
              <a:t>. IEEE, 2024.</a:t>
            </a:r>
          </a:p>
          <a:p>
            <a:pPr algn="just">
              <a:lnSpc>
                <a:spcPct val="150000"/>
              </a:lnSpc>
            </a:pPr>
            <a:r>
              <a:rPr lang="en-IN" sz="1600" dirty="0" err="1">
                <a:latin typeface="Times New Roman" pitchFamily="18" charset="0"/>
                <a:cs typeface="Times New Roman" pitchFamily="18" charset="0"/>
              </a:rPr>
              <a:t>Christopoulou</a:t>
            </a:r>
            <a:r>
              <a:rPr lang="en-IN" sz="1600" dirty="0">
                <a:latin typeface="Times New Roman" pitchFamily="18" charset="0"/>
                <a:cs typeface="Times New Roman" pitchFamily="18" charset="0"/>
              </a:rPr>
              <a:t>, Maria, et al. "User Terminals as Attackers: An Open Dataset Analysis of </a:t>
            </a:r>
            <a:r>
              <a:rPr lang="en-IN" sz="1600" dirty="0" err="1">
                <a:latin typeface="Times New Roman" pitchFamily="18" charset="0"/>
                <a:cs typeface="Times New Roman" pitchFamily="18" charset="0"/>
              </a:rPr>
              <a:t>DDoS</a:t>
            </a:r>
            <a:r>
              <a:rPr lang="en-IN" sz="1600" dirty="0">
                <a:latin typeface="Times New Roman" pitchFamily="18" charset="0"/>
                <a:cs typeface="Times New Roman" pitchFamily="18" charset="0"/>
              </a:rPr>
              <a:t> Attacks in 5G Networks." </a:t>
            </a:r>
            <a:r>
              <a:rPr lang="en-IN" sz="1600" i="1" dirty="0">
                <a:latin typeface="Times New Roman" pitchFamily="18" charset="0"/>
                <a:cs typeface="Times New Roman" pitchFamily="18" charset="0"/>
              </a:rPr>
              <a:t>2024 IEEE Conference on Standards for Communications and Networking (CSCN)</a:t>
            </a:r>
            <a:r>
              <a:rPr lang="en-IN" sz="1600" dirty="0">
                <a:latin typeface="Times New Roman" pitchFamily="18" charset="0"/>
                <a:cs typeface="Times New Roman" pitchFamily="18" charset="0"/>
              </a:rPr>
              <a:t>. IEEE, 2024.</a:t>
            </a:r>
          </a:p>
          <a:p>
            <a:pPr algn="just">
              <a:lnSpc>
                <a:spcPct val="150000"/>
              </a:lnSpc>
            </a:pPr>
            <a:r>
              <a:rPr lang="en-US" sz="1600" dirty="0" err="1">
                <a:latin typeface="Times New Roman" pitchFamily="18" charset="0"/>
                <a:cs typeface="Times New Roman" pitchFamily="18" charset="0"/>
              </a:rPr>
              <a:t>Rathore</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Himmat</a:t>
            </a:r>
            <a:r>
              <a:rPr lang="en-US" sz="1600" dirty="0">
                <a:latin typeface="Times New Roman" pitchFamily="18" charset="0"/>
                <a:cs typeface="Times New Roman" pitchFamily="18" charset="0"/>
              </a:rPr>
              <a:t>, and </a:t>
            </a:r>
            <a:r>
              <a:rPr lang="en-US" sz="1600" dirty="0" err="1">
                <a:latin typeface="Times New Roman" pitchFamily="18" charset="0"/>
                <a:cs typeface="Times New Roman" pitchFamily="18" charset="0"/>
              </a:rPr>
              <a:t>Renu</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Ratnawat</a:t>
            </a:r>
            <a:r>
              <a:rPr lang="en-US" sz="1600" dirty="0">
                <a:latin typeface="Times New Roman" pitchFamily="18" charset="0"/>
                <a:cs typeface="Times New Roman" pitchFamily="18" charset="0"/>
              </a:rPr>
              <a:t>. "An Explanatory Machine Learning Method for the Identification of </a:t>
            </a:r>
            <a:r>
              <a:rPr lang="en-US" sz="1600" dirty="0" err="1">
                <a:latin typeface="Times New Roman" pitchFamily="18" charset="0"/>
                <a:cs typeface="Times New Roman" pitchFamily="18" charset="0"/>
              </a:rPr>
              <a:t>DDoS</a:t>
            </a:r>
            <a:r>
              <a:rPr lang="en-US" sz="1600" dirty="0">
                <a:latin typeface="Times New Roman" pitchFamily="18" charset="0"/>
                <a:cs typeface="Times New Roman" pitchFamily="18" charset="0"/>
              </a:rPr>
              <a:t> Attacks in SDN Architectures." </a:t>
            </a:r>
            <a:r>
              <a:rPr lang="en-US" sz="1600" i="1" dirty="0">
                <a:latin typeface="Times New Roman" pitchFamily="18" charset="0"/>
                <a:cs typeface="Times New Roman" pitchFamily="18" charset="0"/>
              </a:rPr>
              <a:t>2024 4th Asian Conference on Innovation in Technology (ASIANCON)</a:t>
            </a:r>
            <a:r>
              <a:rPr lang="en-US" sz="1600" dirty="0">
                <a:latin typeface="Times New Roman" pitchFamily="18" charset="0"/>
                <a:cs typeface="Times New Roman" pitchFamily="18" charset="0"/>
              </a:rPr>
              <a:t>. IEEE, 2024.</a:t>
            </a:r>
            <a:endParaRPr lang="en-IN" sz="1600" dirty="0">
              <a:latin typeface="Times New Roman" pitchFamily="18" charset="0"/>
              <a:cs typeface="Times New Roman" pitchFamily="18" charset="0"/>
            </a:endParaRPr>
          </a:p>
          <a:p>
            <a:pPr algn="just">
              <a:lnSpc>
                <a:spcPct val="150000"/>
              </a:lnSpc>
            </a:pPr>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360153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1082</Words>
  <Application>Microsoft Office PowerPoint</Application>
  <PresentationFormat>Widescreen</PresentationFormat>
  <Paragraphs>87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Problem Statement</vt:lpstr>
      <vt:lpstr>Objective</vt:lpstr>
      <vt:lpstr>Literature review</vt:lpstr>
      <vt:lpstr>PowerPoint Presentation</vt:lpstr>
      <vt:lpstr>Proposed system</vt:lpstr>
      <vt:lpstr>PowerPoint Presentation</vt:lpstr>
      <vt:lpstr>Work done far</vt:lpstr>
      <vt:lpstr>Work Yet to Be Done</vt:lpstr>
      <vt:lpstr>Execution of First Module</vt:lpstr>
      <vt:lpstr>PowerPoint Presentation</vt:lpstr>
      <vt:lpstr>Expected Outcome</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NetGuard: A Scalable Framework for Detecting DDoS Attacks Using Cloud data Analysis</dc:title>
  <dc:creator>SAMCORE_DOC3</dc:creator>
  <cp:lastModifiedBy>MK HARIN</cp:lastModifiedBy>
  <cp:revision>16</cp:revision>
  <dcterms:created xsi:type="dcterms:W3CDTF">2026-01-06T12:20:40Z</dcterms:created>
  <dcterms:modified xsi:type="dcterms:W3CDTF">2026-02-20T04:46:53Z</dcterms:modified>
</cp:coreProperties>
</file>